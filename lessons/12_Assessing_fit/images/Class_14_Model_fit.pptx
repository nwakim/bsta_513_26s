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355" r:id="rId2"/>
    <p:sldId id="356" r:id="rId3"/>
    <p:sldId id="3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352F"/>
    <a:srgbClr val="C00000"/>
    <a:srgbClr val="ED7D31"/>
    <a:srgbClr val="5B9BD5"/>
    <a:srgbClr val="05142F"/>
    <a:srgbClr val="DBEDF6"/>
    <a:srgbClr val="F18031"/>
    <a:srgbClr val="CAE4BF"/>
    <a:srgbClr val="FCDE84"/>
    <a:srgbClr val="FBE1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3D8E5C-2431-0245-A14A-F0CF62C0944B}" v="14" dt="2026-05-05T18:38:34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67"/>
    <p:restoredTop sz="94658"/>
  </p:normalViewPr>
  <p:slideViewPr>
    <p:cSldViewPr snapToGrid="0">
      <p:cViewPr varScale="1">
        <p:scale>
          <a:sx n="110" d="100"/>
          <a:sy n="110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9CFBA-4C7D-0A47-ADE8-843D8E846D28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C547C-3A58-6549-95CC-4B6A6895F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6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91ED8-C632-4EB2-A60C-77FCEF6F2C8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79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31563"/>
            <a:ext cx="2743200" cy="213886"/>
          </a:xfr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May 24,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31563"/>
            <a:ext cx="4114800" cy="228599"/>
          </a:xfr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Class 14 Notes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400" y="6553200"/>
            <a:ext cx="2743200" cy="228600"/>
          </a:xfrm>
        </p:spPr>
        <p:txBody>
          <a:bodyPr/>
          <a:lstStyle>
            <a:lvl1pPr>
              <a:defRPr sz="2000"/>
            </a:lvl1pPr>
          </a:lstStyle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84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44114"/>
            <a:ext cx="2743200" cy="213886"/>
          </a:xfrm>
        </p:spPr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599"/>
          </a:xfrm>
        </p:spPr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F18001-00D6-3BE8-68F6-565FE1F25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9144000" cy="541324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60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8F0EB-5238-5235-DDAE-AB1A3FFBA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FD258-D02C-F64E-8DF7-AB0A342C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45FAF-1189-C3B7-A3C8-860B4AC7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1A5DB-5AFD-F8DB-41E7-19DAE995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D44376-48AD-2396-851A-6B23130E0E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" y="1143001"/>
            <a:ext cx="11887200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3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8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169988"/>
            <a:ext cx="5867400" cy="5006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69988"/>
            <a:ext cx="5867400" cy="5006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2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7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6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3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4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24" y="139235"/>
            <a:ext cx="4898676" cy="107996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6524"/>
            <a:ext cx="6878288" cy="61086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524" y="1371600"/>
            <a:ext cx="4898676" cy="487362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73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0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58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16694" indent="-216694">
              <a:buSzPct val="105000"/>
              <a:buFont typeface="Arial" panose="020B0604020202020204" pitchFamily="34" charset="0"/>
              <a:buChar char="•"/>
              <a:tabLst/>
              <a:defRPr/>
            </a:lvl1pPr>
            <a:lvl2pPr marL="559594" indent="-216694">
              <a:buSzPct val="105000"/>
              <a:buFont typeface="Arial" panose="020B0604020202020204" pitchFamily="34" charset="0"/>
              <a:buChar char="•"/>
              <a:tabLst/>
              <a:defRPr/>
            </a:lvl2pPr>
            <a:lvl3pPr marL="901304" indent="-215504">
              <a:buSzPct val="105000"/>
              <a:buFont typeface="Arial" panose="020B0604020202020204" pitchFamily="34" charset="0"/>
              <a:buChar char="•"/>
              <a:tabLst/>
              <a:defRPr/>
            </a:lvl3pPr>
            <a:lvl4pPr marL="1244204" indent="-215504">
              <a:buSzPct val="105000"/>
              <a:buFont typeface="Arial" panose="020B0604020202020204" pitchFamily="34" charset="0"/>
              <a:buChar char="•"/>
              <a:tabLst/>
              <a:defRPr/>
            </a:lvl4pPr>
            <a:lvl5pPr marL="1587104" indent="-215504">
              <a:buSzPct val="102000"/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44114"/>
            <a:ext cx="2743200" cy="213886"/>
          </a:xfrm>
        </p:spPr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629402"/>
            <a:ext cx="4114800" cy="228599"/>
          </a:xfrm>
        </p:spPr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/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36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1FECBE-7F2E-A244-8F06-AF3BB9BB36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4E4369A-837A-B34E-AB83-109EFB99D8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C186C50-8FFD-7347-8887-535491AC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3166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May 24, 2023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E9C16E7-4A5A-4B4E-BA20-0C425483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7819697" cy="24710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Class 14 Notes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77279D-D2B1-9448-9829-8902CDD5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474372"/>
            <a:ext cx="1135117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4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47321"/>
            <a:ext cx="11887200" cy="843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143000"/>
            <a:ext cx="91440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46416"/>
            <a:ext cx="2743200" cy="2138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May 24,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30002"/>
            <a:ext cx="4114800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Class 14 Notes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629400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26C14-EDCA-BA41-88A6-577D33A9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and AUC (I)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8B592-0C9B-4068-952A-D5800732EACA}" type="slidenum">
              <a:rPr lang="en-US" smtClean="0"/>
              <a:pPr/>
              <a:t>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152400" y="1139952"/>
                <a:ext cx="5650782" cy="541324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Receiver Operating Characteristics (ROC) curve is useful tool to quantify how good is our model predicting binary outcome </a:t>
                </a:r>
              </a:p>
              <a:p>
                <a:endParaRPr lang="en-US" dirty="0"/>
              </a:p>
              <a:p>
                <a:r>
                  <a:rPr lang="en-US" dirty="0"/>
                  <a:t>It is a plot of sensitivity (true positive rate) versus (1-specificity) or false positive rate of fitted binary values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True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Positive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Rate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False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Positive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Rate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The ROC curve shows the tradeoff between sensitivity and specificity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152400" y="1139952"/>
                <a:ext cx="5650782" cy="5413248"/>
              </a:xfrm>
              <a:blipFill>
                <a:blip r:embed="rId2"/>
                <a:stretch>
                  <a:fillRect l="-1798" t="-2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3DBC8D28-6F68-ECC9-0526-E3E13AE80111}"/>
              </a:ext>
            </a:extLst>
          </p:cNvPr>
          <p:cNvSpPr/>
          <p:nvPr/>
        </p:nvSpPr>
        <p:spPr>
          <a:xfrm>
            <a:off x="9783711" y="6553200"/>
            <a:ext cx="2521974" cy="327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Image by Martin </a:t>
            </a:r>
            <a:r>
              <a:rPr lang="en-US" sz="1400" dirty="0" err="1">
                <a:solidFill>
                  <a:schemeClr val="tx1"/>
                </a:solidFill>
              </a:rPr>
              <a:t>Thoma</a:t>
            </a:r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6523A55-62FD-22FC-B03C-0458A708E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792119"/>
              </p:ext>
            </p:extLst>
          </p:nvPr>
        </p:nvGraphicFramePr>
        <p:xfrm>
          <a:off x="5803182" y="1955956"/>
          <a:ext cx="5650782" cy="189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498">
                  <a:extLst>
                    <a:ext uri="{9D8B030D-6E8A-4147-A177-3AD203B41FA5}">
                      <a16:colId xmlns:a16="http://schemas.microsoft.com/office/drawing/2014/main" val="1850659038"/>
                    </a:ext>
                  </a:extLst>
                </a:gridCol>
                <a:gridCol w="611074">
                  <a:extLst>
                    <a:ext uri="{9D8B030D-6E8A-4147-A177-3AD203B41FA5}">
                      <a16:colId xmlns:a16="http://schemas.microsoft.com/office/drawing/2014/main" val="3290610404"/>
                    </a:ext>
                  </a:extLst>
                </a:gridCol>
                <a:gridCol w="1466105">
                  <a:extLst>
                    <a:ext uri="{9D8B030D-6E8A-4147-A177-3AD203B41FA5}">
                      <a16:colId xmlns:a16="http://schemas.microsoft.com/office/drawing/2014/main" val="1118031519"/>
                    </a:ext>
                  </a:extLst>
                </a:gridCol>
                <a:gridCol w="1466105">
                  <a:extLst>
                    <a:ext uri="{9D8B030D-6E8A-4147-A177-3AD203B41FA5}">
                      <a16:colId xmlns:a16="http://schemas.microsoft.com/office/drawing/2014/main" val="3148808244"/>
                    </a:ext>
                  </a:extLst>
                </a:gridCol>
              </a:tblGrid>
              <a:tr h="467944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Observed outcome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163220"/>
                  </a:ext>
                </a:extLst>
              </a:tr>
              <a:tr h="467944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149491"/>
                  </a:ext>
                </a:extLst>
              </a:tr>
              <a:tr h="467944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Predicted/fitted outcome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936351"/>
                  </a:ext>
                </a:extLst>
              </a:tr>
              <a:tr h="48678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190302"/>
                  </a:ext>
                </a:extLst>
              </a:tr>
            </a:tbl>
          </a:graphicData>
        </a:graphic>
      </p:graphicFrame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48889BB-FC95-1FC6-31F6-7636F413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6277C7A-2DB5-83CB-D72F-0B1FF84F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</p:spTree>
    <p:extLst>
      <p:ext uri="{BB962C8B-B14F-4D97-AF65-F5344CB8AC3E}">
        <p14:creationId xmlns:p14="http://schemas.microsoft.com/office/powerpoint/2010/main" val="4200406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ROC Curve and AUC (III)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E7DFA-140B-4760-B625-B8FE479BC48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D7738-5BF0-AC6F-CD1D-8135C7CAF7A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Often only report the AUC</a:t>
            </a:r>
          </a:p>
          <a:p>
            <a:r>
              <a:rPr lang="en-US" dirty="0"/>
              <a:t>Textbook has some suggestions of how to interpret model fit through AUC values</a:t>
            </a:r>
          </a:p>
          <a:p>
            <a:pPr lvl="1"/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932E2B3-3350-ACEC-F978-E3616B885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62669"/>
              </p:ext>
            </p:extLst>
          </p:nvPr>
        </p:nvGraphicFramePr>
        <p:xfrm>
          <a:off x="434668" y="2664267"/>
          <a:ext cx="3447026" cy="3358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513">
                  <a:extLst>
                    <a:ext uri="{9D8B030D-6E8A-4147-A177-3AD203B41FA5}">
                      <a16:colId xmlns:a16="http://schemas.microsoft.com/office/drawing/2014/main" val="800345779"/>
                    </a:ext>
                  </a:extLst>
                </a:gridCol>
                <a:gridCol w="1723513">
                  <a:extLst>
                    <a:ext uri="{9D8B030D-6E8A-4147-A177-3AD203B41FA5}">
                      <a16:colId xmlns:a16="http://schemas.microsoft.com/office/drawing/2014/main" val="3690944610"/>
                    </a:ext>
                  </a:extLst>
                </a:gridCol>
              </a:tblGrid>
              <a:tr h="559711">
                <a:tc>
                  <a:txBody>
                    <a:bodyPr/>
                    <a:lstStyle/>
                    <a:p>
                      <a:r>
                        <a:rPr lang="en-US" sz="2400" dirty="0"/>
                        <a:t>AUC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497324"/>
                  </a:ext>
                </a:extLst>
              </a:tr>
              <a:tr h="559711"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Uselesss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272852"/>
                  </a:ext>
                </a:extLst>
              </a:tr>
              <a:tr h="559711">
                <a:tc>
                  <a:txBody>
                    <a:bodyPr/>
                    <a:lstStyle/>
                    <a:p>
                      <a:r>
                        <a:rPr lang="en-US" sz="2400" dirty="0"/>
                        <a:t>0.5-0.7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54165"/>
                  </a:ext>
                </a:extLst>
              </a:tr>
              <a:tr h="559711">
                <a:tc>
                  <a:txBody>
                    <a:bodyPr/>
                    <a:lstStyle/>
                    <a:p>
                      <a:r>
                        <a:rPr lang="en-US" sz="2400" dirty="0"/>
                        <a:t>0.7-0.8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Acceptable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425673"/>
                  </a:ext>
                </a:extLst>
              </a:tr>
              <a:tr h="559711">
                <a:tc>
                  <a:txBody>
                    <a:bodyPr/>
                    <a:lstStyle/>
                    <a:p>
                      <a:r>
                        <a:rPr lang="en-US" sz="2400" dirty="0"/>
                        <a:t>0.8-0.9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768977"/>
                  </a:ext>
                </a:extLst>
              </a:tr>
              <a:tr h="559711">
                <a:tc>
                  <a:txBody>
                    <a:bodyPr/>
                    <a:lstStyle/>
                    <a:p>
                      <a:r>
                        <a:rPr lang="en-US" sz="2400" dirty="0"/>
                        <a:t>0.9-1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Outstanding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722860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BA8C3-ABAD-445C-8691-A5A3AAA1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FF135-B9E6-05D6-CB43-DF7450361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</p:spTree>
    <p:extLst>
      <p:ext uri="{BB962C8B-B14F-4D97-AF65-F5344CB8AC3E}">
        <p14:creationId xmlns:p14="http://schemas.microsoft.com/office/powerpoint/2010/main" val="37927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49E26-9007-D6C1-BB22-06B9E0F6B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May 24,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6D228-DD78-887F-6B6E-6EEAE9B3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Class 14 Notes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8FABA-0CD4-C885-8C35-D2CBC294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26C14-EDCA-BA41-88A6-577D33A93799}" type="slidenum">
              <a:rPr lang="en-US" smtClean="0"/>
              <a:t>3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447A727-A7CB-A5A2-B2BB-841445616618}"/>
              </a:ext>
            </a:extLst>
          </p:cNvPr>
          <p:cNvGrpSpPr/>
          <p:nvPr/>
        </p:nvGrpSpPr>
        <p:grpSpPr>
          <a:xfrm>
            <a:off x="949125" y="798651"/>
            <a:ext cx="2743200" cy="2743200"/>
            <a:chOff x="949125" y="798651"/>
            <a:chExt cx="2743200" cy="27432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88A3FE4-2300-DC53-14D4-2F5E4E6674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9125" y="798651"/>
              <a:ext cx="2743200" cy="2743200"/>
            </a:xfrm>
            <a:prstGeom prst="ellipse">
              <a:avLst/>
            </a:prstGeom>
            <a:solidFill>
              <a:srgbClr val="C00000">
                <a:alpha val="51373"/>
              </a:srgbClr>
            </a:solidFill>
            <a:ln w="57150">
              <a:solidFill>
                <a:srgbClr val="C235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4BEFD6F-C739-47AB-ED93-2A0F0C0798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14042" y="1263568"/>
              <a:ext cx="1815298" cy="1815298"/>
            </a:xfrm>
            <a:prstGeom prst="ellipse">
              <a:avLst/>
            </a:prstGeom>
            <a:solidFill>
              <a:srgbClr val="5B9BD5">
                <a:alpha val="51373"/>
              </a:srgbClr>
            </a:solidFill>
            <a:ln w="57150">
              <a:solidFill>
                <a:srgbClr val="5B9B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AB84144-07D3-2257-811F-B8A0AC4F42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14815" y="1668198"/>
              <a:ext cx="1004106" cy="1004106"/>
            </a:xfrm>
            <a:prstGeom prst="ellipse">
              <a:avLst/>
            </a:prstGeom>
            <a:solidFill>
              <a:srgbClr val="ED7D31">
                <a:alpha val="51373"/>
              </a:srgbClr>
            </a:solidFill>
            <a:ln w="5715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D9E80B-7054-FB89-F50F-6F3B78DF48FB}"/>
                </a:ext>
              </a:extLst>
            </p:cNvPr>
            <p:cNvSpPr txBox="1"/>
            <p:nvPr/>
          </p:nvSpPr>
          <p:spPr>
            <a:xfrm>
              <a:off x="1800829" y="894236"/>
              <a:ext cx="1032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Model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386FEE-3628-02CF-A941-85DFD01EB385}"/>
                </a:ext>
              </a:extLst>
            </p:cNvPr>
            <p:cNvSpPr txBox="1"/>
            <p:nvPr/>
          </p:nvSpPr>
          <p:spPr>
            <a:xfrm>
              <a:off x="1800828" y="1333544"/>
              <a:ext cx="1032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Model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B67425-D829-510F-097E-30F624EC267D}"/>
                </a:ext>
              </a:extLst>
            </p:cNvPr>
            <p:cNvSpPr txBox="1"/>
            <p:nvPr/>
          </p:nvSpPr>
          <p:spPr>
            <a:xfrm>
              <a:off x="1800828" y="1983127"/>
              <a:ext cx="1032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Model 3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CCAD958-6E96-E116-A30B-18D9C200CEA9}"/>
              </a:ext>
            </a:extLst>
          </p:cNvPr>
          <p:cNvGrpSpPr/>
          <p:nvPr/>
        </p:nvGrpSpPr>
        <p:grpSpPr>
          <a:xfrm>
            <a:off x="5791194" y="798651"/>
            <a:ext cx="3805183" cy="2999774"/>
            <a:chOff x="5179666" y="537253"/>
            <a:chExt cx="3805183" cy="299977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0D97780-A568-753B-AC7B-A62C78F879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9318" y="537253"/>
              <a:ext cx="1815298" cy="1815298"/>
            </a:xfrm>
            <a:prstGeom prst="ellipse">
              <a:avLst/>
            </a:prstGeom>
            <a:solidFill>
              <a:srgbClr val="5B9BD5">
                <a:alpha val="51373"/>
              </a:srgbClr>
            </a:solidFill>
            <a:ln w="57150">
              <a:solidFill>
                <a:srgbClr val="5B9B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C5730C3-AD9E-491B-48F0-E2029F0EC1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79666" y="1721729"/>
              <a:ext cx="1815298" cy="1815298"/>
            </a:xfrm>
            <a:prstGeom prst="ellipse">
              <a:avLst/>
            </a:prstGeom>
            <a:solidFill>
              <a:srgbClr val="ED7D31">
                <a:alpha val="51373"/>
              </a:srgbClr>
            </a:solidFill>
            <a:ln w="57150">
              <a:solidFill>
                <a:srgbClr val="ED7D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32632C8-4DB6-27D3-BF6B-F551A5AAF4EB}"/>
                </a:ext>
              </a:extLst>
            </p:cNvPr>
            <p:cNvSpPr txBox="1"/>
            <p:nvPr/>
          </p:nvSpPr>
          <p:spPr>
            <a:xfrm>
              <a:off x="5571274" y="1222134"/>
              <a:ext cx="1032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Model 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16174A-8276-79DD-D2AF-5378F3187F4C}"/>
                </a:ext>
              </a:extLst>
            </p:cNvPr>
            <p:cNvSpPr txBox="1"/>
            <p:nvPr/>
          </p:nvSpPr>
          <p:spPr>
            <a:xfrm>
              <a:off x="5571273" y="2482814"/>
              <a:ext cx="1032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Model 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14C9062-C173-55D9-3E0B-AAAE620952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69551" y="1123611"/>
              <a:ext cx="1815298" cy="1815298"/>
            </a:xfrm>
            <a:prstGeom prst="ellipse">
              <a:avLst/>
            </a:prstGeom>
            <a:solidFill>
              <a:srgbClr val="C2352F">
                <a:alpha val="51373"/>
              </a:srgbClr>
            </a:solidFill>
            <a:ln w="57150">
              <a:solidFill>
                <a:srgbClr val="C235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3771F3-09D5-1F93-7C01-2DBDC46DDD7D}"/>
                </a:ext>
              </a:extLst>
            </p:cNvPr>
            <p:cNvSpPr txBox="1"/>
            <p:nvPr/>
          </p:nvSpPr>
          <p:spPr>
            <a:xfrm>
              <a:off x="7561159" y="1846594"/>
              <a:ext cx="1032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Model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4608471"/>
      </p:ext>
    </p:extLst>
  </p:cSld>
  <p:clrMapOvr>
    <a:masterClrMapping/>
  </p:clrMapOvr>
</p:sld>
</file>

<file path=ppt/theme/theme1.xml><?xml version="1.0" encoding="utf-8"?>
<a:theme xmlns:a="http://schemas.openxmlformats.org/drawingml/2006/main" name="BSTA513-613_slides">
  <a:themeElements>
    <a:clrScheme name="OHSU-PSU 1">
      <a:dk1>
        <a:srgbClr val="000000"/>
      </a:dk1>
      <a:lt1>
        <a:srgbClr val="FFFFFF"/>
      </a:lt1>
      <a:dk2>
        <a:srgbClr val="004832"/>
      </a:dk2>
      <a:lt2>
        <a:srgbClr val="E7E6E6"/>
      </a:lt2>
      <a:accent1>
        <a:srgbClr val="193D78"/>
      </a:accent1>
      <a:accent2>
        <a:srgbClr val="004832"/>
      </a:accent2>
      <a:accent3>
        <a:srgbClr val="A5A5A5"/>
      </a:accent3>
      <a:accent4>
        <a:srgbClr val="F7CB25"/>
      </a:accent4>
      <a:accent5>
        <a:srgbClr val="49A3D1"/>
      </a:accent5>
      <a:accent6>
        <a:srgbClr val="4EA627"/>
      </a:accent6>
      <a:hlink>
        <a:srgbClr val="F18032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TA513-613_slides" id="{8AE96846-3712-904D-8107-1078E933B762}" vid="{77A4D38B-A047-3C48-ACA5-BC1193729A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BSTA513-613_slides</Template>
  <TotalTime>2324</TotalTime>
  <Words>163</Words>
  <Application>Microsoft Macintosh PowerPoint</Application>
  <PresentationFormat>Widescreen</PresentationFormat>
  <Paragraphs>52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 Math</vt:lpstr>
      <vt:lpstr>BSTA513-613_slides</vt:lpstr>
      <vt:lpstr>ROC Curve and AUC (I)</vt:lpstr>
      <vt:lpstr>ROC Curve and AUC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Nicky Wakim</dc:creator>
  <cp:lastModifiedBy>Nicky Wakim</cp:lastModifiedBy>
  <cp:revision>3</cp:revision>
  <dcterms:created xsi:type="dcterms:W3CDTF">2023-05-19T00:53:21Z</dcterms:created>
  <dcterms:modified xsi:type="dcterms:W3CDTF">2026-05-05T20:07:43Z</dcterms:modified>
</cp:coreProperties>
</file>